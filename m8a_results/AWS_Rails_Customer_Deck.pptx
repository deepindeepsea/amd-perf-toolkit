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F4A52E"/>
                </a:solidFill>
                <a:latin typeface="Arial"/>
              </a:rPr>
              <a:t>[Confidential - Distribution with NDA]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0C8D0"/>
                </a:solidFill>
                <a:latin typeface="Arial"/>
              </a:rPr>
              <a:t>1 / 13    |    8TH GEN AMD EC2  |  Rails Puma benchmark  |  Released under 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7395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rial"/>
              </a:rPr>
              <a:t>AMD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C2DE"/>
                </a:solidFill>
                <a:latin typeface="Arial"/>
              </a:rPr>
              <a:t>AMD CSP &amp; Tier-1 FAE  ·  Customer brief  ·  2026-05-24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240280"/>
            <a:ext cx="3108960" cy="0"/>
          </a:xfrm>
          <a:prstGeom prst="line">
            <a:avLst/>
          </a:prstGeom>
          <a:ln w="1270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4231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Ruby on Rails on AWS EPYC Turin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0C8D0"/>
                </a:solidFill>
                <a:latin typeface="Arial"/>
              </a:rPr>
              <a:t>How m8a.metal-24xl, m8a.2xlarge, and c8a.2xlarge compare</a:t>
            </a:r>
          </a:p>
          <a:p>
            <a:pPr algn="l"/>
            <a:r>
              <a:rPr sz="1800" b="0">
                <a:solidFill>
                  <a:srgbClr val="C0C8D0"/>
                </a:solidFill>
                <a:latin typeface="Arial"/>
              </a:rPr>
              <a:t>when running production Puma — what to buy and why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6547" y="4937760"/>
            <a:ext cx="2743200" cy="1097280"/>
          </a:xfrm>
          <a:prstGeom prst="roundRect">
            <a:avLst>
              <a:gd name="adj" fmla="val 6000"/>
            </a:avLst>
          </a:prstGeom>
          <a:solidFill>
            <a:srgbClr val="071F30"/>
          </a:solidFill>
          <a:ln w="12700">
            <a:solidFill>
              <a:srgbClr val="1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6547" y="5047488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5B5DE"/>
                </a:solidFill>
                <a:latin typeface="Arial"/>
              </a:rPr>
              <a:t>22,992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699" y="5596128"/>
            <a:ext cx="25968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0C8D0"/>
                </a:solidFill>
                <a:latin typeface="Arial"/>
              </a:rPr>
              <a:t>Peak RPS / 1-CCD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8347" y="4937760"/>
            <a:ext cx="2743200" cy="1097280"/>
          </a:xfrm>
          <a:prstGeom prst="roundRect">
            <a:avLst>
              <a:gd name="adj" fmla="val 6000"/>
            </a:avLst>
          </a:prstGeom>
          <a:solidFill>
            <a:srgbClr val="071F30"/>
          </a:solidFill>
          <a:ln w="12700">
            <a:solidFill>
              <a:srgbClr val="1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38347" y="5047488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5B5DE"/>
                </a:solidFill>
                <a:latin typeface="Arial"/>
              </a:rPr>
              <a:t>4.5 %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1499" y="5596128"/>
            <a:ext cx="25968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0C8D0"/>
                </a:solidFill>
                <a:latin typeface="Arial"/>
              </a:rPr>
              <a:t>C8A price-perf win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4937760"/>
            <a:ext cx="2743200" cy="1097280"/>
          </a:xfrm>
          <a:prstGeom prst="roundRect">
            <a:avLst>
              <a:gd name="adj" fmla="val 6000"/>
            </a:avLst>
          </a:prstGeom>
          <a:solidFill>
            <a:srgbClr val="071F30"/>
          </a:solidFill>
          <a:ln w="12700">
            <a:solidFill>
              <a:srgbClr val="1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0147" y="5047488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5B5DE"/>
                </a:solidFill>
                <a:latin typeface="Arial"/>
              </a:rPr>
              <a:t>70%+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3299" y="5596128"/>
            <a:ext cx="25968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0C8D0"/>
                </a:solidFill>
                <a:latin typeface="Arial"/>
              </a:rPr>
              <a:t>Frontend bound — Zen5 wide fetch wins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1947" y="4937760"/>
            <a:ext cx="2743200" cy="1097280"/>
          </a:xfrm>
          <a:prstGeom prst="roundRect">
            <a:avLst>
              <a:gd name="adj" fmla="val 6000"/>
            </a:avLst>
          </a:prstGeom>
          <a:solidFill>
            <a:srgbClr val="071F30"/>
          </a:solidFill>
          <a:ln w="12700">
            <a:solidFill>
              <a:srgbClr val="1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1947" y="5047488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5B5DE"/>
                </a:solidFill>
                <a:latin typeface="Arial"/>
              </a:rPr>
              <a:t>EPYC 9R45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5099" y="5596128"/>
            <a:ext cx="25968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0C8D0"/>
                </a:solidFill>
                <a:latin typeface="Arial"/>
              </a:rPr>
              <a:t>Turin · same silicon, all 3 shapes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F4A52E"/>
                </a:solidFill>
                <a:latin typeface="Arial"/>
              </a:rPr>
              <a:t>[Confidential - Distribution with NDA]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0C8D0"/>
                </a:solidFill>
                <a:latin typeface="Arial"/>
              </a:rPr>
              <a:t>2 / 13    |    8TH GEN AMD EC2  |  Rails Puma benchmark  |  Released under 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7395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rial"/>
              </a:rPr>
              <a:t>AMD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C2DE"/>
                </a:solidFill>
                <a:latin typeface="Arial"/>
              </a:rPr>
              <a:t>PART 1 · THE INSTANCES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30352"/>
            <a:ext cx="2286000" cy="0"/>
          </a:xfrm>
          <a:prstGeom prst="line">
            <a:avLst/>
          </a:prstGeom>
          <a:ln w="9525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59436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What VMs are we comparing?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0C8D0"/>
                </a:solidFill>
                <a:latin typeface="Arial"/>
              </a:rPr>
              <a:t>Three AWS shapes, one silicon — AMD EPYC 9R45 Zen5 Turin.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737360"/>
            <a:ext cx="5669280" cy="1417320"/>
          </a:xfrm>
          <a:prstGeom prst="roundRect">
            <a:avLst>
              <a:gd name="adj" fmla="val 4000"/>
            </a:avLst>
          </a:prstGeom>
          <a:solidFill>
            <a:srgbClr val="071F30"/>
          </a:solidFill>
          <a:ln w="12700">
            <a:solidFill>
              <a:srgbClr val="1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6537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C2DE"/>
                </a:solidFill>
                <a:latin typeface="Arial"/>
              </a:rPr>
              <a:t>m8a.metal-24xl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2157984"/>
            <a:ext cx="5303520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22402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96 vCPU / 384 GiB DDR5 / full P0 socket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871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$4.661 / hr on-demand (us-west-2)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340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Bare-metal — no hypervisor, no shared tenants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98094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Reference ceiling for all cloud shapes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737360"/>
            <a:ext cx="5669280" cy="1417320"/>
          </a:xfrm>
          <a:prstGeom prst="roundRect">
            <a:avLst>
              <a:gd name="adj" fmla="val 4000"/>
            </a:avLst>
          </a:prstGeom>
          <a:solidFill>
            <a:srgbClr val="071F30"/>
          </a:solidFill>
          <a:ln w="12700">
            <a:solidFill>
              <a:srgbClr val="1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86537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C2DE"/>
                </a:solidFill>
                <a:latin typeface="Arial"/>
              </a:rPr>
              <a:t>m8a.2xlarge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0" y="2157984"/>
            <a:ext cx="5303520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0" y="22402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8 vCPU / 32 GiB / 1 CCD slice (4 GiB per vCPU)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871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$0.4334 / hr on-demand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7340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General-purpose — Rails default tier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98094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Headroom for AR caches, JSON buffers, sessions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337560"/>
            <a:ext cx="5669280" cy="1417320"/>
          </a:xfrm>
          <a:prstGeom prst="roundRect">
            <a:avLst>
              <a:gd name="adj" fmla="val 4000"/>
            </a:avLst>
          </a:prstGeom>
          <a:solidFill>
            <a:srgbClr val="071F30"/>
          </a:solidFill>
          <a:ln w="12700">
            <a:solidFill>
              <a:srgbClr val="1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46557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C2DE"/>
                </a:solidFill>
                <a:latin typeface="Arial"/>
              </a:rPr>
              <a:t>c8a.2xlarge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758184"/>
            <a:ext cx="5303520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38404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8 vCPU / 16 GiB / 1 CCD slice (2 GiB per vCPU)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0873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$0.3888 / hr on-demand (10.3% cheaper)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3342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Compute-optimized — same cores, half memory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8114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Best for lightweight microservices, ingress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337560"/>
            <a:ext cx="5669280" cy="1417320"/>
          </a:xfrm>
          <a:prstGeom prst="roundRect">
            <a:avLst>
              <a:gd name="adj" fmla="val 4000"/>
            </a:avLst>
          </a:prstGeom>
          <a:solidFill>
            <a:srgbClr val="071F30"/>
          </a:solidFill>
          <a:ln w="12700">
            <a:solidFill>
              <a:srgbClr val="1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46557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C2DE"/>
                </a:solidFill>
                <a:latin typeface="Arial"/>
              </a:rPr>
              <a:t>Why this matrix?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00800" y="3758184"/>
            <a:ext cx="5303520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00800" y="38404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Quantify silicon vs cloud overhead (bare vs cloud)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0873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Compare general-purpose vs compute-opt at fixed core count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3342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Show the memory-ratio trade-off (1:4 vs 1:2 GiB/core)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58114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Build a defensible price-performance 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F4A52E"/>
                </a:solidFill>
                <a:latin typeface="Arial"/>
              </a:rPr>
              <a:t>[Confidential - Distribution with NDA]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0C8D0"/>
                </a:solidFill>
                <a:latin typeface="Arial"/>
              </a:rPr>
              <a:t>1    |    8TH GEN AMD EC2  |  RELEASED TO AWS UNDER 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7395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rial"/>
              </a:rPr>
              <a:t>AMD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__m8a.metal-24xl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0C8D0"/>
                </a:solidFill>
                <a:latin typeface="Arial"/>
              </a:rPr>
              <a:t>96 vCPUs  /  96 cores  /  Full P0 socket — 12 CCDs / 96 cores / 384 GiB DDR5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00200"/>
            <a:ext cx="6858000" cy="4389120"/>
          </a:xfrm>
          <a:prstGeom prst="roundRect">
            <a:avLst>
              <a:gd name="adj" fmla="val 18000"/>
            </a:avLst>
          </a:prstGeom>
          <a:solidFill>
            <a:srgbClr val="0A293F"/>
          </a:solidFill>
          <a:ln w="2540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63547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1718" y="194742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718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1718" y="218048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1718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1718" y="241354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1718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1718" y="2646608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1718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09294" y="2017341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9294" y="2017341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2500" y="194742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2500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2500" y="218048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2500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2500" y="241354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2500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22500" y="2646608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2500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1504" y="2969604"/>
            <a:ext cx="706647" cy="153619"/>
          </a:xfrm>
          <a:prstGeom prst="rect">
            <a:avLst/>
          </a:prstGeom>
          <a:solidFill>
            <a:srgbClr val="FFD500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504" y="2969604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Arial"/>
              </a:rPr>
              <a:t>GMI
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00052" y="1863547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31690" y="194742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31690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31690" y="218048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31690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31690" y="241354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31690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31690" y="2646608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31690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9266" y="2017341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69266" y="2017341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82472" y="194742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82472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82472" y="218048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82472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82472" y="241354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82472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82472" y="2646608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82472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51476" y="2969604"/>
            <a:ext cx="706647" cy="153619"/>
          </a:xfrm>
          <a:prstGeom prst="rect">
            <a:avLst/>
          </a:prstGeom>
          <a:solidFill>
            <a:srgbClr val="FFD500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51476" y="2969604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Arial"/>
              </a:rPr>
              <a:t>GMI
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60024" y="1863547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891662" y="194742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91662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91662" y="218048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91662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91662" y="241354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91662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91662" y="2646608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91662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29238" y="2017341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29238" y="2017341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42444" y="194742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42444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42444" y="218048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42444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42444" y="241354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42444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42444" y="2646608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42444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11448" y="2969604"/>
            <a:ext cx="706647" cy="153619"/>
          </a:xfrm>
          <a:prstGeom prst="rect">
            <a:avLst/>
          </a:prstGeom>
          <a:solidFill>
            <a:srgbClr val="FFD500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911448" y="2969604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Arial"/>
              </a:rPr>
              <a:t>GMI
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19996" y="1863547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951634" y="194742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951634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951634" y="218048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951634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51634" y="241354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951634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951634" y="2646608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51634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89210" y="2017341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89210" y="2017341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02416" y="194742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02416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02416" y="218048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02416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02416" y="241354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02416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02416" y="2646608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02416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971420" y="2969604"/>
            <a:ext cx="706647" cy="153619"/>
          </a:xfrm>
          <a:prstGeom prst="rect">
            <a:avLst/>
          </a:prstGeom>
          <a:solidFill>
            <a:srgbClr val="FFD500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971420" y="2969604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Arial"/>
              </a:rPr>
              <a:t>GMI
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879968" y="1863547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011606" y="194742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11606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11606" y="218048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011606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11606" y="241354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11606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11606" y="2646608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011606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349182" y="2017341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349182" y="2017341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562388" y="194742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562388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562388" y="218048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562388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562388" y="241354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562388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562388" y="2646608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562388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031392" y="2969604"/>
            <a:ext cx="706647" cy="153619"/>
          </a:xfrm>
          <a:prstGeom prst="rect">
            <a:avLst/>
          </a:prstGeom>
          <a:solidFill>
            <a:srgbClr val="FFD500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031392" y="2969604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Arial"/>
              </a:rPr>
              <a:t>GMI
4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939940" y="1863547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071578" y="194742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071578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071578" y="218048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071578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071578" y="241354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071578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071578" y="2646608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071578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409154" y="2017341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409154" y="2017341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622360" y="194742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622360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622360" y="218048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622360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622360" y="241354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622360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622360" y="2646608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622360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091364" y="2969604"/>
            <a:ext cx="706647" cy="153619"/>
          </a:xfrm>
          <a:prstGeom prst="rect">
            <a:avLst/>
          </a:prstGeom>
          <a:solidFill>
            <a:srgbClr val="FFD500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091364" y="2969604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Arial"/>
              </a:rPr>
              <a:t>GMI
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4400" y="3175892"/>
            <a:ext cx="5760720" cy="965606"/>
          </a:xfrm>
          <a:prstGeom prst="rect">
            <a:avLst/>
          </a:prstGeom>
          <a:solidFill>
            <a:srgbClr val="364E60"/>
          </a:solidFill>
          <a:ln w="1270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14400" y="3175892"/>
            <a:ext cx="5760720" cy="9656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MEMORY / IO DIE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91504" y="4194167"/>
            <a:ext cx="706647" cy="153619"/>
          </a:xfrm>
          <a:prstGeom prst="rect">
            <a:avLst/>
          </a:prstGeom>
          <a:solidFill>
            <a:srgbClr val="FFD500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91504" y="4194167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Arial"/>
              </a:rPr>
              <a:t>GMI
4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40080" y="4400455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71718" y="4484330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71718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71718" y="471739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71718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71718" y="495045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71718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71718" y="518351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71718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109294" y="4554249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09294" y="4554249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322500" y="4484330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322500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322500" y="471739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322500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322500" y="495045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322500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322500" y="518351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322500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851476" y="4194167"/>
            <a:ext cx="706647" cy="153619"/>
          </a:xfrm>
          <a:prstGeom prst="rect">
            <a:avLst/>
          </a:prstGeom>
          <a:solidFill>
            <a:srgbClr val="FFD500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851476" y="4194167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Arial"/>
              </a:rPr>
              <a:t>GMI
4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700052" y="4400455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831690" y="4484330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831690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831690" y="471739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831690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831690" y="495045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831690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831690" y="518351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831690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169266" y="4554249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2169266" y="4554249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382472" y="4484330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2382472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382472" y="471739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382472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382472" y="495045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382472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382472" y="518351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2382472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2911448" y="4194167"/>
            <a:ext cx="706647" cy="153619"/>
          </a:xfrm>
          <a:prstGeom prst="rect">
            <a:avLst/>
          </a:prstGeom>
          <a:solidFill>
            <a:srgbClr val="FFD500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2911448" y="4194167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Arial"/>
              </a:rPr>
              <a:t>GMI
4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2760024" y="4400455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2891662" y="4484330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2891662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2891662" y="471739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2891662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2891662" y="495045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2891662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891662" y="518351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2891662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229238" y="4554249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3229238" y="4554249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442444" y="4484330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442444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3442444" y="471739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3442444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3442444" y="495045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3442444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3442444" y="518351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3442444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3971420" y="4194167"/>
            <a:ext cx="706647" cy="153619"/>
          </a:xfrm>
          <a:prstGeom prst="rect">
            <a:avLst/>
          </a:prstGeom>
          <a:solidFill>
            <a:srgbClr val="FFD500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971420" y="4194167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Arial"/>
              </a:rPr>
              <a:t>GMI
4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3819996" y="4400455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3951634" y="4484330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3951634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3951634" y="471739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3951634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3951634" y="495045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3951634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3951634" y="518351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3951634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4289210" y="4554249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289210" y="4554249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4502416" y="4484330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4502416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4502416" y="471739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4502416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4502416" y="495045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4502416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4502416" y="518351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4502416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031392" y="4194167"/>
            <a:ext cx="706647" cy="153619"/>
          </a:xfrm>
          <a:prstGeom prst="rect">
            <a:avLst/>
          </a:prstGeom>
          <a:solidFill>
            <a:srgbClr val="FFD500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5031392" y="4194167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Arial"/>
              </a:rPr>
              <a:t>GMI
4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4879968" y="4400455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011606" y="4484330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5011606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5011606" y="471739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5011606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5011606" y="495045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5011606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5011606" y="518351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5011606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5349182" y="4554249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5349182" y="4554249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5562388" y="4484330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5562388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5562388" y="471739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5562388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5562388" y="495045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5562388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5562388" y="518351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5562388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6091364" y="4194167"/>
            <a:ext cx="706647" cy="153619"/>
          </a:xfrm>
          <a:prstGeom prst="rect">
            <a:avLst/>
          </a:prstGeom>
          <a:solidFill>
            <a:srgbClr val="FFD500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6091364" y="4194167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Arial"/>
              </a:rPr>
              <a:t>GMI
4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5939940" y="4400455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071578" y="4484330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6071578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6071578" y="471739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6071578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071578" y="495045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071578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6071578" y="518351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6071578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6409154" y="4554249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6409154" y="4554249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6622360" y="4484330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6622360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6622360" y="471739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6622360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6622360" y="495045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6622360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6622360" y="518351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6622360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320040" y="1307592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P0</a:t>
            </a:r>
          </a:p>
        </p:txBody>
      </p:sp>
      <p:sp>
        <p:nvSpPr>
          <p:cNvPr id="264" name="Rounded Rectangle 263"/>
          <p:cNvSpPr/>
          <p:nvPr/>
        </p:nvSpPr>
        <p:spPr>
          <a:xfrm>
            <a:off x="7589520" y="1325880"/>
            <a:ext cx="4327855" cy="4846320"/>
          </a:xfrm>
          <a:prstGeom prst="roundRect">
            <a:avLst>
              <a:gd name="adj" fmla="val 5000"/>
            </a:avLst>
          </a:prstGeom>
          <a:solidFill>
            <a:srgbClr val="071F30"/>
          </a:solidFill>
          <a:ln w="12700">
            <a:solidFill>
              <a:srgbClr val="1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7761299" y="1490472"/>
            <a:ext cx="184780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C2DE"/>
                </a:solidFill>
                <a:latin typeface="Arial"/>
              </a:rPr>
              <a:t>INSTANCE</a:t>
            </a:r>
          </a:p>
        </p:txBody>
      </p:sp>
      <p:cxnSp>
        <p:nvCxnSpPr>
          <p:cNvPr id="266" name="Connector 265"/>
          <p:cNvCxnSpPr/>
          <p:nvPr/>
        </p:nvCxnSpPr>
        <p:spPr>
          <a:xfrm>
            <a:off x="7761299" y="1709928"/>
            <a:ext cx="1847801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TextBox 266"/>
          <p:cNvSpPr txBox="1"/>
          <p:nvPr/>
        </p:nvSpPr>
        <p:spPr>
          <a:xfrm>
            <a:off x="7761299" y="1746504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Name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8500419" y="1746504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m8a.metal-24xl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7761299" y="1947672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CSP gen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8500419" y="1947672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AWS 8th gen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7761299" y="2148840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AMD gen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500419" y="2148840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Zen 5 / Turin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7761299" y="2350008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Sockets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8500419" y="2350008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1 (P0)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7761299" y="2642616"/>
            <a:ext cx="184780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C2DE"/>
                </a:solidFill>
                <a:latin typeface="Arial"/>
              </a:rPr>
              <a:t>CPU</a:t>
            </a:r>
          </a:p>
        </p:txBody>
      </p:sp>
      <p:cxnSp>
        <p:nvCxnSpPr>
          <p:cNvPr id="276" name="Connector 275"/>
          <p:cNvCxnSpPr/>
          <p:nvPr/>
        </p:nvCxnSpPr>
        <p:spPr>
          <a:xfrm>
            <a:off x="7761299" y="2862072"/>
            <a:ext cx="1847801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TextBox 276"/>
          <p:cNvSpPr txBox="1"/>
          <p:nvPr/>
        </p:nvSpPr>
        <p:spPr>
          <a:xfrm>
            <a:off x="7761299" y="2898648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Processor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8500419" y="2898648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AMD EPYC 9R45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7761299" y="3099816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Boost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8500419" y="3099816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up to 4.5 GHz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7761299" y="3300984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vCPUs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8500419" y="3300984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96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7761299" y="3502152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SMT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8500419" y="3502152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off</a:t>
            </a:r>
          </a:p>
        </p:txBody>
      </p:sp>
      <p:cxnSp>
        <p:nvCxnSpPr>
          <p:cNvPr id="285" name="Connector 284"/>
          <p:cNvCxnSpPr/>
          <p:nvPr/>
        </p:nvCxnSpPr>
        <p:spPr>
          <a:xfrm>
            <a:off x="9744303" y="1490472"/>
            <a:ext cx="0" cy="4517136"/>
          </a:xfrm>
          <a:prstGeom prst="line">
            <a:avLst/>
          </a:prstGeom>
          <a:ln w="6350">
            <a:solidFill>
              <a:srgbClr val="1A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TextBox 285"/>
          <p:cNvSpPr txBox="1"/>
          <p:nvPr/>
        </p:nvSpPr>
        <p:spPr>
          <a:xfrm>
            <a:off x="9879506" y="1490472"/>
            <a:ext cx="184780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C2DE"/>
                </a:solidFill>
                <a:latin typeface="Arial"/>
              </a:rPr>
              <a:t>MEMORY</a:t>
            </a:r>
          </a:p>
        </p:txBody>
      </p:sp>
      <p:cxnSp>
        <p:nvCxnSpPr>
          <p:cNvPr id="287" name="Connector 286"/>
          <p:cNvCxnSpPr/>
          <p:nvPr/>
        </p:nvCxnSpPr>
        <p:spPr>
          <a:xfrm>
            <a:off x="9879506" y="1709928"/>
            <a:ext cx="1847801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TextBox 287"/>
          <p:cNvSpPr txBox="1"/>
          <p:nvPr/>
        </p:nvSpPr>
        <p:spPr>
          <a:xfrm>
            <a:off x="9879506" y="1746504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Total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10618626" y="1746504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384 GiB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9879506" y="1947672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Per vCPU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0618626" y="1947672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4 GiB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9879506" y="2148840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Type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0618626" y="2148840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DDR5-6000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9879506" y="2441448"/>
            <a:ext cx="184780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C2DE"/>
                </a:solidFill>
                <a:latin typeface="Arial"/>
              </a:rPr>
              <a:t>NETWORK</a:t>
            </a:r>
          </a:p>
        </p:txBody>
      </p:sp>
      <p:cxnSp>
        <p:nvCxnSpPr>
          <p:cNvPr id="295" name="Connector 294"/>
          <p:cNvCxnSpPr/>
          <p:nvPr/>
        </p:nvCxnSpPr>
        <p:spPr>
          <a:xfrm>
            <a:off x="9879506" y="2660904"/>
            <a:ext cx="1847801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" name="TextBox 295"/>
          <p:cNvSpPr txBox="1"/>
          <p:nvPr/>
        </p:nvSpPr>
        <p:spPr>
          <a:xfrm>
            <a:off x="9879506" y="2697480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Perf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0618626" y="2697480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50 Gbps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9879506" y="2898648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ENIs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10618626" y="2898648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15 (50 IPs)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9879506" y="3191256"/>
            <a:ext cx="184780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C2DE"/>
                </a:solidFill>
                <a:latin typeface="Arial"/>
              </a:rPr>
              <a:t>STORAGE</a:t>
            </a:r>
          </a:p>
        </p:txBody>
      </p:sp>
      <p:cxnSp>
        <p:nvCxnSpPr>
          <p:cNvPr id="301" name="Connector 300"/>
          <p:cNvCxnSpPr/>
          <p:nvPr/>
        </p:nvCxnSpPr>
        <p:spPr>
          <a:xfrm>
            <a:off x="9879506" y="3410712"/>
            <a:ext cx="1847801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TextBox 301"/>
          <p:cNvSpPr txBox="1"/>
          <p:nvPr/>
        </p:nvSpPr>
        <p:spPr>
          <a:xfrm>
            <a:off x="9879506" y="3447288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Local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0618626" y="3447288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EBS-only (gp3/io2)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9879506" y="3648456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EBS BW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10618626" y="3648456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40 Gbps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9879506" y="3849624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EBS Tput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10618626" y="3849624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5,000 MB/s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9879506" y="4050792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EBS IOPS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10618626" y="4050792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120,000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182880" y="4572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F4A52E"/>
                </a:solidFill>
                <a:latin typeface="Arial"/>
              </a:rPr>
              <a:t>[Confidential - Distribution with NDA]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0C8D0"/>
                </a:solidFill>
                <a:latin typeface="Arial"/>
              </a:rPr>
              <a:t>3 / 13    |    8TH GEN AMD EC2  |  Rails Puma benchmark  |  Released under NDA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11094415" y="647395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rial"/>
              </a:rPr>
              <a:t>AMD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F4A52E"/>
                </a:solidFill>
                <a:latin typeface="Arial"/>
              </a:rPr>
              <a:t>[Confidential - Distribution with NDA]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0C8D0"/>
                </a:solidFill>
                <a:latin typeface="Arial"/>
              </a:rPr>
              <a:t>1    |    8TH GEN AMD EC2  |  RELEASED TO AWS UNDER 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7395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rial"/>
              </a:rPr>
              <a:t>AMD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__m8a.2xlarge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0C8D0"/>
                </a:solidFill>
                <a:latin typeface="Arial"/>
              </a:rPr>
              <a:t>8 vCPUs  /  8 cores  /  1 CCD on P0 (1 of 24 on host) — 4 GiB/vCPU general-purpose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00200"/>
            <a:ext cx="6858000" cy="4389120"/>
          </a:xfrm>
          <a:prstGeom prst="roundRect">
            <a:avLst>
              <a:gd name="adj" fmla="val 18000"/>
            </a:avLst>
          </a:prstGeom>
          <a:solidFill>
            <a:srgbClr val="0A293F"/>
          </a:solidFill>
          <a:ln w="2540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63547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1718" y="194742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718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1718" y="218048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1718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1718" y="241354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1718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1718" y="2646608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1718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09294" y="2017341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9294" y="2017341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2500" y="194742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2500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2500" y="218048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2500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2500" y="241354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2500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22500" y="2646608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2500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1504" y="2969604"/>
            <a:ext cx="706647" cy="153619"/>
          </a:xfrm>
          <a:prstGeom prst="rect">
            <a:avLst/>
          </a:prstGeom>
          <a:solidFill>
            <a:srgbClr val="FFD500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504" y="2969604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Arial"/>
              </a:rPr>
              <a:t>GMI
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00052" y="1863547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31690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31690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31690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31690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31690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31690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31690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31690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9266" y="2017341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69266" y="2017341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82472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82472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82472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82472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82472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82472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82472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82472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51476" y="2969604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51476" y="2969604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60024" y="1863547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891662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91662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91662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91662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91662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91662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91662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91662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29238" y="2017341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29238" y="2017341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42444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42444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42444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42444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42444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42444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42444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42444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11448" y="2969604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911448" y="2969604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19996" y="1863547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951634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951634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951634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951634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51634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951634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951634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51634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89210" y="2017341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89210" y="2017341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02416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02416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02416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02416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02416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02416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02416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02416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971420" y="2969604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971420" y="2969604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879968" y="1863547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011606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11606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11606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011606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11606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11606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11606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011606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349182" y="2017341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349182" y="2017341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562388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562388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562388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562388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562388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562388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562388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562388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031392" y="2969604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031392" y="2969604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939940" y="1863547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071578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071578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071578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071578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071578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071578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071578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071578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409154" y="2017341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409154" y="2017341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622360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622360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622360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622360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622360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622360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622360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622360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091364" y="2969604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091364" y="2969604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4400" y="3175892"/>
            <a:ext cx="5760720" cy="965606"/>
          </a:xfrm>
          <a:prstGeom prst="rect">
            <a:avLst/>
          </a:prstGeom>
          <a:solidFill>
            <a:srgbClr val="364E60"/>
          </a:solidFill>
          <a:ln w="1270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14400" y="3175892"/>
            <a:ext cx="5760720" cy="9656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MEMORY / IO DIE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91504" y="4194167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91504" y="4194167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40080" y="4400455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71718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71718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71718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71718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71718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71718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71718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71718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109294" y="4554249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09294" y="4554249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322500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322500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322500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322500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322500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322500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322500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322500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851476" y="4194167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851476" y="4194167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700052" y="4400455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831690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831690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831690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831690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831690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831690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831690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831690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169266" y="4554249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2169266" y="4554249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382472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2382472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382472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382472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382472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382472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382472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2382472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2911448" y="4194167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2911448" y="4194167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2760024" y="4400455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2891662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2891662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2891662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2891662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2891662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2891662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891662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2891662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229238" y="4554249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3229238" y="4554249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442444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442444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3442444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3442444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3442444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3442444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3442444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3442444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3971420" y="4194167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971420" y="4194167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3819996" y="4400455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3951634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3951634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3951634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3951634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3951634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3951634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3951634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3951634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4289210" y="4554249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289210" y="4554249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4502416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4502416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4502416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4502416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4502416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4502416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4502416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4502416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031392" y="4194167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5031392" y="4194167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4879968" y="4400455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011606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5011606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5011606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5011606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5011606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5011606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5011606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5011606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5349182" y="4554249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5349182" y="4554249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5562388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5562388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5562388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5562388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5562388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5562388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5562388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5562388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6091364" y="4194167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6091364" y="4194167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5939940" y="4400455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071578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6071578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6071578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6071578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071578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071578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6071578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6071578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6409154" y="4554249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6409154" y="4554249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6622360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6622360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6622360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6622360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6622360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6622360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6622360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6622360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320040" y="1307592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P0</a:t>
            </a:r>
          </a:p>
        </p:txBody>
      </p:sp>
      <p:sp>
        <p:nvSpPr>
          <p:cNvPr id="264" name="Rounded Rectangle 263"/>
          <p:cNvSpPr/>
          <p:nvPr/>
        </p:nvSpPr>
        <p:spPr>
          <a:xfrm>
            <a:off x="7589520" y="1325880"/>
            <a:ext cx="4327855" cy="4846320"/>
          </a:xfrm>
          <a:prstGeom prst="roundRect">
            <a:avLst>
              <a:gd name="adj" fmla="val 5000"/>
            </a:avLst>
          </a:prstGeom>
          <a:solidFill>
            <a:srgbClr val="071F30"/>
          </a:solidFill>
          <a:ln w="12700">
            <a:solidFill>
              <a:srgbClr val="1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7761299" y="1490472"/>
            <a:ext cx="184780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C2DE"/>
                </a:solidFill>
                <a:latin typeface="Arial"/>
              </a:rPr>
              <a:t>INSTANCE</a:t>
            </a:r>
          </a:p>
        </p:txBody>
      </p:sp>
      <p:cxnSp>
        <p:nvCxnSpPr>
          <p:cNvPr id="266" name="Connector 265"/>
          <p:cNvCxnSpPr/>
          <p:nvPr/>
        </p:nvCxnSpPr>
        <p:spPr>
          <a:xfrm>
            <a:off x="7761299" y="1709928"/>
            <a:ext cx="1847801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TextBox 266"/>
          <p:cNvSpPr txBox="1"/>
          <p:nvPr/>
        </p:nvSpPr>
        <p:spPr>
          <a:xfrm>
            <a:off x="7761299" y="1746504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Name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8500419" y="1746504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m8a.2xlarge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7761299" y="1947672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CSP gen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8500419" y="1947672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AWS 8th gen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7761299" y="2148840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AMD gen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500419" y="2148840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Zen 5 / Turin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7761299" y="2350008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Sockets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8500419" y="2350008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1 (P0)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7761299" y="2642616"/>
            <a:ext cx="184780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C2DE"/>
                </a:solidFill>
                <a:latin typeface="Arial"/>
              </a:rPr>
              <a:t>CPU</a:t>
            </a:r>
          </a:p>
        </p:txBody>
      </p:sp>
      <p:cxnSp>
        <p:nvCxnSpPr>
          <p:cNvPr id="276" name="Connector 275"/>
          <p:cNvCxnSpPr/>
          <p:nvPr/>
        </p:nvCxnSpPr>
        <p:spPr>
          <a:xfrm>
            <a:off x="7761299" y="2862072"/>
            <a:ext cx="1847801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TextBox 276"/>
          <p:cNvSpPr txBox="1"/>
          <p:nvPr/>
        </p:nvSpPr>
        <p:spPr>
          <a:xfrm>
            <a:off x="7761299" y="2898648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Processor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8500419" y="2898648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AMD EPYC 9R45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7761299" y="3099816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Boost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8500419" y="3099816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up to 4.5 GHz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7761299" y="3300984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vCPUs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8500419" y="3300984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7761299" y="3502152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SMT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8500419" y="3502152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off</a:t>
            </a:r>
          </a:p>
        </p:txBody>
      </p:sp>
      <p:cxnSp>
        <p:nvCxnSpPr>
          <p:cNvPr id="285" name="Connector 284"/>
          <p:cNvCxnSpPr/>
          <p:nvPr/>
        </p:nvCxnSpPr>
        <p:spPr>
          <a:xfrm>
            <a:off x="9744303" y="1490472"/>
            <a:ext cx="0" cy="4517136"/>
          </a:xfrm>
          <a:prstGeom prst="line">
            <a:avLst/>
          </a:prstGeom>
          <a:ln w="6350">
            <a:solidFill>
              <a:srgbClr val="1A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TextBox 285"/>
          <p:cNvSpPr txBox="1"/>
          <p:nvPr/>
        </p:nvSpPr>
        <p:spPr>
          <a:xfrm>
            <a:off x="9879506" y="1490472"/>
            <a:ext cx="184780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C2DE"/>
                </a:solidFill>
                <a:latin typeface="Arial"/>
              </a:rPr>
              <a:t>MEMORY</a:t>
            </a:r>
          </a:p>
        </p:txBody>
      </p:sp>
      <p:cxnSp>
        <p:nvCxnSpPr>
          <p:cNvPr id="287" name="Connector 286"/>
          <p:cNvCxnSpPr/>
          <p:nvPr/>
        </p:nvCxnSpPr>
        <p:spPr>
          <a:xfrm>
            <a:off x="9879506" y="1709928"/>
            <a:ext cx="1847801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TextBox 287"/>
          <p:cNvSpPr txBox="1"/>
          <p:nvPr/>
        </p:nvSpPr>
        <p:spPr>
          <a:xfrm>
            <a:off x="9879506" y="1746504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Total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10618626" y="1746504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32 GiB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9879506" y="1947672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Per vCPU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0618626" y="1947672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4 GiB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9879506" y="2148840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Type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0618626" y="2148840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DDR5-6000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9879506" y="2441448"/>
            <a:ext cx="184780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C2DE"/>
                </a:solidFill>
                <a:latin typeface="Arial"/>
              </a:rPr>
              <a:t>NETWORK</a:t>
            </a:r>
          </a:p>
        </p:txBody>
      </p:sp>
      <p:cxnSp>
        <p:nvCxnSpPr>
          <p:cNvPr id="295" name="Connector 294"/>
          <p:cNvCxnSpPr/>
          <p:nvPr/>
        </p:nvCxnSpPr>
        <p:spPr>
          <a:xfrm>
            <a:off x="9879506" y="2660904"/>
            <a:ext cx="1847801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" name="TextBox 295"/>
          <p:cNvSpPr txBox="1"/>
          <p:nvPr/>
        </p:nvSpPr>
        <p:spPr>
          <a:xfrm>
            <a:off x="9879506" y="2697480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Perf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0618626" y="2697480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up to 15 Gbps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9879506" y="2898648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ENIs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10618626" y="2898648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4 (15 IPs)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9879506" y="3191256"/>
            <a:ext cx="184780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C2DE"/>
                </a:solidFill>
                <a:latin typeface="Arial"/>
              </a:rPr>
              <a:t>STORAGE</a:t>
            </a:r>
          </a:p>
        </p:txBody>
      </p:sp>
      <p:cxnSp>
        <p:nvCxnSpPr>
          <p:cNvPr id="301" name="Connector 300"/>
          <p:cNvCxnSpPr/>
          <p:nvPr/>
        </p:nvCxnSpPr>
        <p:spPr>
          <a:xfrm>
            <a:off x="9879506" y="3410712"/>
            <a:ext cx="1847801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TextBox 301"/>
          <p:cNvSpPr txBox="1"/>
          <p:nvPr/>
        </p:nvSpPr>
        <p:spPr>
          <a:xfrm>
            <a:off x="9879506" y="3447288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Local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0618626" y="3447288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EBS-only (SSD)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9879506" y="3648456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EBS BW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10618626" y="3648456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10 Gbps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9879506" y="3849624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EBS Tput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10618626" y="3849624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1,250 MB/s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9879506" y="4050792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EBS IOPS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10618626" y="4050792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40,000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182880" y="4572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F4A52E"/>
                </a:solidFill>
                <a:latin typeface="Arial"/>
              </a:rPr>
              <a:t>[Confidential - Distribution with NDA]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0C8D0"/>
                </a:solidFill>
                <a:latin typeface="Arial"/>
              </a:rPr>
              <a:t>4 / 13    |    8TH GEN AMD EC2  |  Rails Puma benchmark  |  Released under NDA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11094415" y="647395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rial"/>
              </a:rPr>
              <a:t>AMD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F4A52E"/>
                </a:solidFill>
                <a:latin typeface="Arial"/>
              </a:rPr>
              <a:t>[Confidential - Distribution with NDA]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0C8D0"/>
                </a:solidFill>
                <a:latin typeface="Arial"/>
              </a:rPr>
              <a:t>1    |    8TH GEN AMD EC2  |  RELEASED TO AWS UNDER 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7395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rial"/>
              </a:rPr>
              <a:t>AMD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__c8a.2xlarge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0C8D0"/>
                </a:solidFill>
                <a:latin typeface="Arial"/>
              </a:rPr>
              <a:t>8 vCPUs  /  8 cores  /  1 CCD on P0 (1 of 24 on host) — 2 GiB/vCPU compute-optimized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00200"/>
            <a:ext cx="6858000" cy="4389120"/>
          </a:xfrm>
          <a:prstGeom prst="roundRect">
            <a:avLst>
              <a:gd name="adj" fmla="val 18000"/>
            </a:avLst>
          </a:prstGeom>
          <a:solidFill>
            <a:srgbClr val="0A293F"/>
          </a:solidFill>
          <a:ln w="2540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63547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1718" y="194742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718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1718" y="218048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1718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1718" y="241354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1718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1718" y="2646608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1718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09294" y="2017341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9294" y="2017341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2500" y="194742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2500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2500" y="218048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2500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2500" y="241354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2500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22500" y="2646608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2500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1504" y="2969604"/>
            <a:ext cx="706647" cy="153619"/>
          </a:xfrm>
          <a:prstGeom prst="rect">
            <a:avLst/>
          </a:prstGeom>
          <a:solidFill>
            <a:srgbClr val="FFD500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504" y="2969604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Arial"/>
              </a:rPr>
              <a:t>GMI
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00052" y="1863547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31690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31690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31690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31690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31690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31690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31690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31690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9266" y="2017341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69266" y="2017341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82472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82472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82472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82472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82472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82472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82472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82472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51476" y="2969604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51476" y="2969604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60024" y="1863547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891662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91662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91662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91662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91662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91662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91662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91662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29238" y="2017341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29238" y="2017341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42444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42444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42444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42444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42444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42444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42444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42444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11448" y="2969604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911448" y="2969604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19996" y="1863547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951634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951634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951634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951634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51634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951634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951634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51634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89210" y="2017341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89210" y="2017341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02416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02416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02416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02416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02416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02416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02416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02416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971420" y="2969604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971420" y="2969604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879968" y="1863547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011606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11606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11606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011606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11606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11606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11606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011606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349182" y="2017341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349182" y="2017341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562388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562388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562388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562388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562388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562388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562388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562388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031392" y="2969604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031392" y="2969604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939940" y="1863547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071578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071578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071578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071578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071578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071578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071578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071578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409154" y="2017341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409154" y="2017341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622360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622360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622360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622360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622360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622360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622360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622360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091364" y="2969604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091364" y="2969604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4400" y="3175892"/>
            <a:ext cx="5760720" cy="965606"/>
          </a:xfrm>
          <a:prstGeom prst="rect">
            <a:avLst/>
          </a:prstGeom>
          <a:solidFill>
            <a:srgbClr val="364E60"/>
          </a:solidFill>
          <a:ln w="1270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14400" y="3175892"/>
            <a:ext cx="5760720" cy="9656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MEMORY / IO DIE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91504" y="4194167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91504" y="4194167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40080" y="4400455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71718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71718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71718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71718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71718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71718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71718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71718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109294" y="4554249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09294" y="4554249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322500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322500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322500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322500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322500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322500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322500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322500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851476" y="4194167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851476" y="4194167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700052" y="4400455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831690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831690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831690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831690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831690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831690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831690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831690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169266" y="4554249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2169266" y="4554249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382472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2382472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382472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382472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382472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382472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382472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2382472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2911448" y="4194167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2911448" y="4194167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2760024" y="4400455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2891662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2891662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2891662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2891662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2891662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2891662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891662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2891662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229238" y="4554249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3229238" y="4554249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442444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442444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3442444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3442444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3442444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3442444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3442444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3442444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3971420" y="4194167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971420" y="4194167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3819996" y="4400455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3951634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3951634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3951634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3951634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3951634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3951634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3951634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3951634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4289210" y="4554249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289210" y="4554249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4502416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4502416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4502416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4502416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4502416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4502416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4502416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4502416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031392" y="4194167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5031392" y="4194167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4879968" y="4400455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011606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5011606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5011606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5011606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5011606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5011606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5011606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5011606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5349182" y="4554249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5349182" y="4554249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5562388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5562388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5562388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5562388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5562388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5562388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5562388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5562388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6091364" y="4194167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6091364" y="4194167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5939940" y="4400455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071578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6071578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6071578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6071578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071578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071578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6071578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6071578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6409154" y="4554249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6409154" y="4554249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6622360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6622360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6622360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6622360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6622360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6622360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6622360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6622360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320040" y="1307592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P0</a:t>
            </a:r>
          </a:p>
        </p:txBody>
      </p:sp>
      <p:sp>
        <p:nvSpPr>
          <p:cNvPr id="264" name="Rounded Rectangle 263"/>
          <p:cNvSpPr/>
          <p:nvPr/>
        </p:nvSpPr>
        <p:spPr>
          <a:xfrm>
            <a:off x="7589520" y="1325880"/>
            <a:ext cx="4327855" cy="4846320"/>
          </a:xfrm>
          <a:prstGeom prst="roundRect">
            <a:avLst>
              <a:gd name="adj" fmla="val 5000"/>
            </a:avLst>
          </a:prstGeom>
          <a:solidFill>
            <a:srgbClr val="071F30"/>
          </a:solidFill>
          <a:ln w="12700">
            <a:solidFill>
              <a:srgbClr val="1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7761299" y="1490472"/>
            <a:ext cx="184780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C2DE"/>
                </a:solidFill>
                <a:latin typeface="Arial"/>
              </a:rPr>
              <a:t>INSTANCE</a:t>
            </a:r>
          </a:p>
        </p:txBody>
      </p:sp>
      <p:cxnSp>
        <p:nvCxnSpPr>
          <p:cNvPr id="266" name="Connector 265"/>
          <p:cNvCxnSpPr/>
          <p:nvPr/>
        </p:nvCxnSpPr>
        <p:spPr>
          <a:xfrm>
            <a:off x="7761299" y="1709928"/>
            <a:ext cx="1847801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TextBox 266"/>
          <p:cNvSpPr txBox="1"/>
          <p:nvPr/>
        </p:nvSpPr>
        <p:spPr>
          <a:xfrm>
            <a:off x="7761299" y="1746504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Name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8500419" y="1746504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c8a.2xlarge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7761299" y="1947672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CSP gen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8500419" y="1947672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AWS 8th gen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7761299" y="2148840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AMD gen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500419" y="2148840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Zen 5 / Turin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7761299" y="2350008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Sockets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8500419" y="2350008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1 (P0)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7761299" y="2642616"/>
            <a:ext cx="184780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C2DE"/>
                </a:solidFill>
                <a:latin typeface="Arial"/>
              </a:rPr>
              <a:t>CPU</a:t>
            </a:r>
          </a:p>
        </p:txBody>
      </p:sp>
      <p:cxnSp>
        <p:nvCxnSpPr>
          <p:cNvPr id="276" name="Connector 275"/>
          <p:cNvCxnSpPr/>
          <p:nvPr/>
        </p:nvCxnSpPr>
        <p:spPr>
          <a:xfrm>
            <a:off x="7761299" y="2862072"/>
            <a:ext cx="1847801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TextBox 276"/>
          <p:cNvSpPr txBox="1"/>
          <p:nvPr/>
        </p:nvSpPr>
        <p:spPr>
          <a:xfrm>
            <a:off x="7761299" y="2898648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Processor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8500419" y="2898648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AMD EPYC 9R45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7761299" y="3099816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Boost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8500419" y="3099816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up to 4.5 GHz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7761299" y="3300984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vCPUs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8500419" y="3300984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7761299" y="3502152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SMT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8500419" y="3502152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off</a:t>
            </a:r>
          </a:p>
        </p:txBody>
      </p:sp>
      <p:cxnSp>
        <p:nvCxnSpPr>
          <p:cNvPr id="285" name="Connector 284"/>
          <p:cNvCxnSpPr/>
          <p:nvPr/>
        </p:nvCxnSpPr>
        <p:spPr>
          <a:xfrm>
            <a:off x="9744303" y="1490472"/>
            <a:ext cx="0" cy="4517136"/>
          </a:xfrm>
          <a:prstGeom prst="line">
            <a:avLst/>
          </a:prstGeom>
          <a:ln w="6350">
            <a:solidFill>
              <a:srgbClr val="1A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TextBox 285"/>
          <p:cNvSpPr txBox="1"/>
          <p:nvPr/>
        </p:nvSpPr>
        <p:spPr>
          <a:xfrm>
            <a:off x="9879506" y="1490472"/>
            <a:ext cx="184780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C2DE"/>
                </a:solidFill>
                <a:latin typeface="Arial"/>
              </a:rPr>
              <a:t>MEMORY</a:t>
            </a:r>
          </a:p>
        </p:txBody>
      </p:sp>
      <p:cxnSp>
        <p:nvCxnSpPr>
          <p:cNvPr id="287" name="Connector 286"/>
          <p:cNvCxnSpPr/>
          <p:nvPr/>
        </p:nvCxnSpPr>
        <p:spPr>
          <a:xfrm>
            <a:off x="9879506" y="1709928"/>
            <a:ext cx="1847801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TextBox 287"/>
          <p:cNvSpPr txBox="1"/>
          <p:nvPr/>
        </p:nvSpPr>
        <p:spPr>
          <a:xfrm>
            <a:off x="9879506" y="1746504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Total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10618626" y="1746504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16 GiB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9879506" y="1947672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Per vCPU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0618626" y="1947672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2 GiB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9879506" y="2148840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Type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0618626" y="2148840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DDR5-6000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9879506" y="2441448"/>
            <a:ext cx="184780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C2DE"/>
                </a:solidFill>
                <a:latin typeface="Arial"/>
              </a:rPr>
              <a:t>NETWORK</a:t>
            </a:r>
          </a:p>
        </p:txBody>
      </p:sp>
      <p:cxnSp>
        <p:nvCxnSpPr>
          <p:cNvPr id="295" name="Connector 294"/>
          <p:cNvCxnSpPr/>
          <p:nvPr/>
        </p:nvCxnSpPr>
        <p:spPr>
          <a:xfrm>
            <a:off x="9879506" y="2660904"/>
            <a:ext cx="1847801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" name="TextBox 295"/>
          <p:cNvSpPr txBox="1"/>
          <p:nvPr/>
        </p:nvSpPr>
        <p:spPr>
          <a:xfrm>
            <a:off x="9879506" y="2697480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Perf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0618626" y="2697480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up to 15 Gbps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9879506" y="2898648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ENIs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10618626" y="2898648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4 (15 IPs)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9879506" y="3191256"/>
            <a:ext cx="184780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C2DE"/>
                </a:solidFill>
                <a:latin typeface="Arial"/>
              </a:rPr>
              <a:t>STORAGE</a:t>
            </a:r>
          </a:p>
        </p:txBody>
      </p:sp>
      <p:cxnSp>
        <p:nvCxnSpPr>
          <p:cNvPr id="301" name="Connector 300"/>
          <p:cNvCxnSpPr/>
          <p:nvPr/>
        </p:nvCxnSpPr>
        <p:spPr>
          <a:xfrm>
            <a:off x="9879506" y="3410712"/>
            <a:ext cx="1847801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TextBox 301"/>
          <p:cNvSpPr txBox="1"/>
          <p:nvPr/>
        </p:nvSpPr>
        <p:spPr>
          <a:xfrm>
            <a:off x="9879506" y="3447288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Local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0618626" y="3447288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EBS-only (SSD)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9879506" y="3648456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EBS BW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10618626" y="3648456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10 Gbps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9879506" y="3849624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EBS Tput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10618626" y="3849624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1,250 MB/s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9879506" y="4050792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EBS IOPS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10618626" y="4050792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40,000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182880" y="4572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F4A52E"/>
                </a:solidFill>
                <a:latin typeface="Arial"/>
              </a:rPr>
              <a:t>[Confidential - Distribution with NDA]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0C8D0"/>
                </a:solidFill>
                <a:latin typeface="Arial"/>
              </a:rPr>
              <a:t>5 / 13    |    8TH GEN AMD EC2  |  Rails Puma benchmark  |  Released under NDA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11094415" y="647395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rial"/>
              </a:rPr>
              <a:t>AMD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F4A52E"/>
                </a:solidFill>
                <a:latin typeface="Arial"/>
              </a:rPr>
              <a:t>[Confidential - Distribution with NDA]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0C8D0"/>
                </a:solidFill>
                <a:latin typeface="Arial"/>
              </a:rPr>
              <a:t>6 / 13    |    8TH GEN AMD EC2  |  Rails Puma benchmark  |  Released under 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7395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rial"/>
              </a:rPr>
              <a:t>AMD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C2DE"/>
                </a:solidFill>
                <a:latin typeface="Arial"/>
              </a:rPr>
              <a:t>PART 2 · THE METHODOLOGY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30352"/>
            <a:ext cx="2286000" cy="0"/>
          </a:xfrm>
          <a:prstGeom prst="line">
            <a:avLst/>
          </a:prstGeom>
          <a:ln w="9525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59436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What test did we run?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0C8D0"/>
                </a:solidFill>
                <a:latin typeface="Arial"/>
              </a:rPr>
              <a:t>Identical recipe across all three shapes — only the cloud topology varies.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737360"/>
            <a:ext cx="5669280" cy="1417320"/>
          </a:xfrm>
          <a:prstGeom prst="roundRect">
            <a:avLst>
              <a:gd name="adj" fmla="val 4000"/>
            </a:avLst>
          </a:prstGeom>
          <a:solidFill>
            <a:srgbClr val="071F30"/>
          </a:solidFill>
          <a:ln w="12700">
            <a:solidFill>
              <a:srgbClr val="1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6537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C2DE"/>
                </a:solidFill>
                <a:latin typeface="Arial"/>
              </a:rPr>
              <a:t>Workload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2157984"/>
            <a:ext cx="5303520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22402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Rails 8.1.3 Hello World controller — plain text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871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Puma 8 cluster: 7 workers × 1 thread (no GVL stall)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340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Ruby 3.3.11 + YJIT (just-in-time native code)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98094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jemalloc preloaded, MALLOC_ARENA_MAX =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737360"/>
            <a:ext cx="5669280" cy="1417320"/>
          </a:xfrm>
          <a:prstGeom prst="roundRect">
            <a:avLst>
              <a:gd name="adj" fmla="val 4000"/>
            </a:avLst>
          </a:prstGeom>
          <a:solidFill>
            <a:srgbClr val="071F30"/>
          </a:solidFill>
          <a:ln w="12700">
            <a:solidFill>
              <a:srgbClr val="1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86537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C2DE"/>
                </a:solidFill>
                <a:latin typeface="Arial"/>
              </a:rPr>
              <a:t>Geometry (same on all 3)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0" y="2157984"/>
            <a:ext cx="5303520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0" y="22402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Puma pinned to cores 0-6 via taskset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871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wrk client pinned to core 7 — same CCD, loopback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7340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30 s steady-state at c = 50 / 100 / 200 / 400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98094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5 s warmup discarded before each step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337560"/>
            <a:ext cx="5669280" cy="1417320"/>
          </a:xfrm>
          <a:prstGeom prst="roundRect">
            <a:avLst>
              <a:gd name="adj" fmla="val 4000"/>
            </a:avLst>
          </a:prstGeom>
          <a:solidFill>
            <a:srgbClr val="071F30"/>
          </a:solidFill>
          <a:ln w="12700">
            <a:solidFill>
              <a:srgbClr val="1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46557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C2DE"/>
                </a:solidFill>
                <a:latin typeface="Arial"/>
              </a:rPr>
              <a:t>Measurement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758184"/>
            <a:ext cx="5303520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38404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RPS + p50 / p99 latency via wrk --latency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0873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PMC matrix via perf stat -j on cores 0-6, 30 s window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3342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AMD Zen5 TopDown events (6-slot dispatch model)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8114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Effective freq, IPC, FE/BE bound %, branch misp rate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337560"/>
            <a:ext cx="5669280" cy="1417320"/>
          </a:xfrm>
          <a:prstGeom prst="roundRect">
            <a:avLst>
              <a:gd name="adj" fmla="val 4000"/>
            </a:avLst>
          </a:prstGeom>
          <a:solidFill>
            <a:srgbClr val="071F30"/>
          </a:solidFill>
          <a:ln w="12700">
            <a:solidFill>
              <a:srgbClr val="1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46557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C2DE"/>
                </a:solidFill>
                <a:latin typeface="Arial"/>
              </a:rPr>
              <a:t>Reproducibility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00800" y="3758184"/>
            <a:ext cx="5303520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00800" y="38404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One self-contained setup_rails_bench.sh — apt deps,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0873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  rbenv + Ruby compile, Bundler, Rails, wrk, sanity 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3342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Idempotent: re-runs detect existing installs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58114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Tested on fresh Ubuntu 24.04 AMI on all 3 shapes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F4A52E"/>
                </a:solidFill>
                <a:latin typeface="Arial"/>
              </a:rPr>
              <a:t>[Confidential - Distribution with NDA]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0C8D0"/>
                </a:solidFill>
                <a:latin typeface="Arial"/>
              </a:rPr>
              <a:t>7 / 13    |    8TH GEN AMD EC2  |  Rails Puma benchmark  |  Released under 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7395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rial"/>
              </a:rPr>
              <a:t>AMD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C2DE"/>
                </a:solidFill>
                <a:latin typeface="Arial"/>
              </a:rPr>
              <a:t>PART 3 · THE RESULTS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30352"/>
            <a:ext cx="2286000" cy="0"/>
          </a:xfrm>
          <a:prstGeom prst="line">
            <a:avLst/>
          </a:prstGeom>
          <a:ln w="9525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59436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Throughput — bare metal beats cloud by ~30 %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0C8D0"/>
                </a:solidFill>
                <a:latin typeface="Arial"/>
              </a:rPr>
              <a:t>Same 7 Puma workers + 1 wrk client on every shape. 1 CCD active.</a:t>
            </a:r>
          </a:p>
        </p:txBody>
      </p:sp>
      <p:pic>
        <p:nvPicPr>
          <p:cNvPr id="10" name="Picture 9" descr="01_rps_3sha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8412480" cy="4526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915400" y="1691640"/>
            <a:ext cx="3017520" cy="4526280"/>
          </a:xfrm>
          <a:prstGeom prst="roundRect">
            <a:avLst>
              <a:gd name="adj" fmla="val 4000"/>
            </a:avLst>
          </a:prstGeom>
          <a:solidFill>
            <a:srgbClr val="071F30"/>
          </a:solidFill>
          <a:ln w="12700">
            <a:solidFill>
              <a:srgbClr val="1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856232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C2DE"/>
                </a:solidFill>
                <a:latin typeface="Arial"/>
              </a:rPr>
              <a:t>KEY TAKEAWAYS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79992" y="2130552"/>
            <a:ext cx="2688336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79992" y="2258568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Bare-metal 24xl 1-CCD peaks at 23,522 RPS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9992" y="2971800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M8A.2xl and C8A.2xl land at 17k and 16.6k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685032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30% gap = Nitro shared-tenant tax, not silicon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4398264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C8A is only 6 % below M8A despite half the 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2" y="5111496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Latency knee clearly at c=100 — production sizing point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F4A52E"/>
                </a:solidFill>
                <a:latin typeface="Arial"/>
              </a:rPr>
              <a:t>[Confidential - Distribution with NDA]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0C8D0"/>
                </a:solidFill>
                <a:latin typeface="Arial"/>
              </a:rPr>
              <a:t>8 / 13    |    8TH GEN AMD EC2  |  Rails Puma benchmark  |  Released under 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7395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rial"/>
              </a:rPr>
              <a:t>AMD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C2DE"/>
                </a:solidFill>
                <a:latin typeface="Arial"/>
              </a:rPr>
              <a:t>PART 3 · THE RESULTS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30352"/>
            <a:ext cx="2286000" cy="0"/>
          </a:xfrm>
          <a:prstGeom prst="line">
            <a:avLst/>
          </a:prstGeom>
          <a:ln w="9525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59436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Tail latency — same shape across all three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0C8D0"/>
                </a:solidFill>
                <a:latin typeface="Arial"/>
              </a:rPr>
              <a:t>p99 ms as concurrency climbs. Queueing dominates at c=400.</a:t>
            </a:r>
          </a:p>
        </p:txBody>
      </p:sp>
      <p:pic>
        <p:nvPicPr>
          <p:cNvPr id="10" name="Picture 9" descr="02_p99_3sha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8412480" cy="4526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915400" y="1691640"/>
            <a:ext cx="3017520" cy="4526280"/>
          </a:xfrm>
          <a:prstGeom prst="roundRect">
            <a:avLst>
              <a:gd name="adj" fmla="val 4000"/>
            </a:avLst>
          </a:prstGeom>
          <a:solidFill>
            <a:srgbClr val="071F30"/>
          </a:solidFill>
          <a:ln w="12700">
            <a:solidFill>
              <a:srgbClr val="1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856232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C2DE"/>
                </a:solidFill>
                <a:latin typeface="Arial"/>
              </a:rPr>
              <a:t>KEY TAKEAWAYS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79992" y="2130552"/>
            <a:ext cx="2688336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79992" y="2258568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Bare-metal is fastest at every load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9992" y="2971800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Cloud shapes are within 1.5 ms of each other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685032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Size for c=100 to stay under 12 ms p99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4398264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Beyond c=200 queueing eats the gain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2" y="5111496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Use 60-65 % steady-state utilization headroom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F4A52E"/>
                </a:solidFill>
                <a:latin typeface="Arial"/>
              </a:rPr>
              <a:t>[Confidential - Distribution with NDA]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0C8D0"/>
                </a:solidFill>
                <a:latin typeface="Arial"/>
              </a:rPr>
              <a:t>9 / 13    |    8TH GEN AMD EC2  |  Rails Puma benchmark  |  Released under 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7395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rial"/>
              </a:rPr>
              <a:t>AMD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C2DE"/>
                </a:solidFill>
                <a:latin typeface="Arial"/>
              </a:rPr>
              <a:t>PART 4 · WHAT THE PMCs TELL US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30352"/>
            <a:ext cx="2286000" cy="0"/>
          </a:xfrm>
          <a:prstGeom prst="line">
            <a:avLst/>
          </a:prstGeom>
          <a:ln w="9525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59436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M8A and C8A are microarchitecturally identical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0C8D0"/>
                </a:solidFill>
                <a:latin typeface="Arial"/>
              </a:rPr>
              <a:t>AMD Zen5 TopDown — every category within 1 %. Only freq differs.</a:t>
            </a:r>
          </a:p>
        </p:txBody>
      </p:sp>
      <p:pic>
        <p:nvPicPr>
          <p:cNvPr id="10" name="Picture 9" descr="04_pmc_top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8412480" cy="4526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915400" y="1691640"/>
            <a:ext cx="3017520" cy="4526280"/>
          </a:xfrm>
          <a:prstGeom prst="roundRect">
            <a:avLst>
              <a:gd name="adj" fmla="val 4000"/>
            </a:avLst>
          </a:prstGeom>
          <a:solidFill>
            <a:srgbClr val="071F30"/>
          </a:solidFill>
          <a:ln w="12700">
            <a:solidFill>
              <a:srgbClr val="1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856232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C2DE"/>
                </a:solidFill>
                <a:latin typeface="Arial"/>
              </a:rPr>
              <a:t>KEY TAKEAWAYS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79992" y="2130552"/>
            <a:ext cx="2688336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79992" y="2258568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Cloud shapes show 70%+ Frontend Bound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9992" y="2971800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Same Backend, same Bad Spec, same BE-Memory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685032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L2 hit rate matches within 0.6 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4398264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Hardware is the same EPYC 9R45 die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2" y="5111496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Performance delta = freq + neighbor contention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F4A52E"/>
                </a:solidFill>
                <a:latin typeface="Arial"/>
              </a:rPr>
              <a:t>[Confidential - Distribution with NDA]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0C8D0"/>
                </a:solidFill>
                <a:latin typeface="Arial"/>
              </a:rPr>
              <a:t>10 / 13    |    8TH GEN AMD EC2  |  Rails Puma benchmark  |  Released under 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7395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rial"/>
              </a:rPr>
              <a:t>AMD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C2DE"/>
                </a:solidFill>
                <a:latin typeface="Arial"/>
              </a:rPr>
              <a:t>PART 4 · WHAT THE PMCs TELL US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30352"/>
            <a:ext cx="2286000" cy="0"/>
          </a:xfrm>
          <a:prstGeom prst="line">
            <a:avLst/>
          </a:prstGeom>
          <a:ln w="9525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59436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Frequency — the only material microarch difference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0C8D0"/>
                </a:solidFill>
                <a:latin typeface="Arial"/>
              </a:rPr>
              <a:t>Bare-metal holds 4.46 GHz; cloud shapes settle around 4.0-4.13 GHz.</a:t>
            </a:r>
          </a:p>
        </p:txBody>
      </p:sp>
      <p:pic>
        <p:nvPicPr>
          <p:cNvPr id="10" name="Picture 9" descr="05_effective_fr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8412480" cy="4526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915400" y="1691640"/>
            <a:ext cx="3017520" cy="4526280"/>
          </a:xfrm>
          <a:prstGeom prst="roundRect">
            <a:avLst>
              <a:gd name="adj" fmla="val 4000"/>
            </a:avLst>
          </a:prstGeom>
          <a:solidFill>
            <a:srgbClr val="071F30"/>
          </a:solidFill>
          <a:ln w="12700">
            <a:solidFill>
              <a:srgbClr val="1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856232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C2DE"/>
                </a:solidFill>
                <a:latin typeface="Arial"/>
              </a:rPr>
              <a:t>KEY TAKEAWAYS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79992" y="2130552"/>
            <a:ext cx="2688336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79992" y="2258568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Bare metal: 4.46 GHz under sustained Rails 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9992" y="2971800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M8A.2xl: 4.13 GHz (-7 %) — Nitro interrupt overhead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685032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C8A.2xl: 4.01 GHz (-10 %) — same silicon, different SKU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4398264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Freq accounts for ~half of the cloud throughput 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2" y="5111496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The other half is DRAM contention from neighbors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F4A52E"/>
                </a:solidFill>
                <a:latin typeface="Arial"/>
              </a:rPr>
              <a:t>[Confidential - Distribution with NDA]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0C8D0"/>
                </a:solidFill>
                <a:latin typeface="Arial"/>
              </a:rPr>
              <a:t>11 / 13    |    8TH GEN AMD EC2  |  Rails Puma benchmark  |  Released under 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7395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rial"/>
              </a:rPr>
              <a:t>AMD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C2DE"/>
                </a:solidFill>
                <a:latin typeface="Arial"/>
              </a:rPr>
              <a:t>PART 5 · WHAT OPTIMIZATIONS HELPED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30352"/>
            <a:ext cx="2286000" cy="0"/>
          </a:xfrm>
          <a:prstGeom prst="line">
            <a:avLst/>
          </a:prstGeom>
          <a:ln w="9525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59436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One knob dominated — match workers to cores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0C8D0"/>
                </a:solidFill>
                <a:latin typeface="Arial"/>
              </a:rPr>
              <a:t>WEB_CONCURRENCY=N (cores) gave us 58.9× over Puma defaults.</a:t>
            </a:r>
          </a:p>
        </p:txBody>
      </p:sp>
      <p:pic>
        <p:nvPicPr>
          <p:cNvPr id="10" name="Picture 9" descr="03_optimization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8412480" cy="4526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915400" y="1691640"/>
            <a:ext cx="3017520" cy="4526280"/>
          </a:xfrm>
          <a:prstGeom prst="roundRect">
            <a:avLst>
              <a:gd name="adj" fmla="val 4000"/>
            </a:avLst>
          </a:prstGeom>
          <a:solidFill>
            <a:srgbClr val="071F30"/>
          </a:solidFill>
          <a:ln w="12700">
            <a:solidFill>
              <a:srgbClr val="1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856232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C2DE"/>
                </a:solidFill>
                <a:latin typeface="Arial"/>
              </a:rPr>
              <a:t>KEY TAKEAWAYS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79992" y="2130552"/>
            <a:ext cx="2688336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79992" y="2258568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Puma default = 5 workers — catastrophic at 96 cores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9992" y="2971800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Right WEB_CONCURRENCY: 2.5k → 145k RPS (58.9x)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685032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jemalloc + ARENA_MAX=2: +1.6 % (memory steady-state)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4398264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YJIT: noise on Hello World — material on real apps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2" y="5111496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taskset pinning: +7.2 % — keeps wrk off Puma cores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5824728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sysctl tweaks: noise at this scale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F4A52E"/>
                </a:solidFill>
                <a:latin typeface="Arial"/>
              </a:rPr>
              <a:t>[Confidential - Distribution with NDA]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0C8D0"/>
                </a:solidFill>
                <a:latin typeface="Arial"/>
              </a:rPr>
              <a:t>12 / 13    |    8TH GEN AMD EC2  |  Rails Puma benchmark  |  Released under 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7395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rial"/>
              </a:rPr>
              <a:t>AMD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C2DE"/>
                </a:solidFill>
                <a:latin typeface="Arial"/>
              </a:rPr>
              <a:t>PART 6 · WHAT TO BUY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30352"/>
            <a:ext cx="2286000" cy="0"/>
          </a:xfrm>
          <a:prstGeom prst="line">
            <a:avLst/>
          </a:prstGeom>
          <a:ln w="9525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59436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Price / performance — C8A.2xl wins on $/RPS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0C8D0"/>
                </a:solidFill>
                <a:latin typeface="Arial"/>
              </a:rPr>
              <a:t>C8A gives up 6 % RPS for 10 % cheaper hourly — net +4.5 % $/perf.</a:t>
            </a:r>
          </a:p>
        </p:txBody>
      </p:sp>
      <p:pic>
        <p:nvPicPr>
          <p:cNvPr id="10" name="Picture 9" descr="07_rps_per_dol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8412480" cy="4526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915400" y="1691640"/>
            <a:ext cx="3017520" cy="4526280"/>
          </a:xfrm>
          <a:prstGeom prst="roundRect">
            <a:avLst>
              <a:gd name="adj" fmla="val 4000"/>
            </a:avLst>
          </a:prstGeom>
          <a:solidFill>
            <a:srgbClr val="071F30"/>
          </a:solidFill>
          <a:ln w="12700">
            <a:solidFill>
              <a:srgbClr val="1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856232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C2DE"/>
                </a:solidFill>
                <a:latin typeface="Arial"/>
              </a:rPr>
              <a:t>KEY TAKEAWAYS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79992" y="2130552"/>
            <a:ext cx="2688336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79992" y="2258568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M8A.2xl: 39,180 RPS per $/hr (4 GiB/vCPU)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9992" y="2971800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C8A.2xl: 40,957 RPS per $/hr (2 GiB/vCPU)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685032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Bare-metal amortized 1-CCD: 59,194 RPS per $/hr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4398264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Choose C8A only when working set fits in 2 GiB/core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2" y="5111496"/>
            <a:ext cx="26883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•  Choose M8A for heavy Rails (AR cache, JSON buffers)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F4A52E"/>
                </a:solidFill>
                <a:latin typeface="Arial"/>
              </a:rPr>
              <a:t>[Confidential - Distribution with NDA]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0C8D0"/>
                </a:solidFill>
                <a:latin typeface="Arial"/>
              </a:rPr>
              <a:t>13 / 13    |    8TH GEN AMD EC2  |  Rails Puma benchmark  |  Released under 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7395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rial"/>
              </a:rPr>
              <a:t>AMD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C2DE"/>
                </a:solidFill>
                <a:latin typeface="Arial"/>
              </a:rPr>
              <a:t>RECOMMENDATION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30352"/>
            <a:ext cx="2286000" cy="0"/>
          </a:xfrm>
          <a:prstGeom prst="line">
            <a:avLst/>
          </a:prstGeom>
          <a:ln w="9525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59436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What to deploy and 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0C8D0"/>
                </a:solidFill>
                <a:latin typeface="Arial"/>
              </a:rPr>
              <a:t>Match the shape to the workload memory profile and SLO.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737360"/>
            <a:ext cx="5669280" cy="1417320"/>
          </a:xfrm>
          <a:prstGeom prst="roundRect">
            <a:avLst>
              <a:gd name="adj" fmla="val 4000"/>
            </a:avLst>
          </a:prstGeom>
          <a:solidFill>
            <a:srgbClr val="071F30"/>
          </a:solidFill>
          <a:ln w="12700">
            <a:solidFill>
              <a:srgbClr val="1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6537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C2DE"/>
                </a:solidFill>
                <a:latin typeface="Arial"/>
              </a:rPr>
              <a:t>Default tier — Rails APIs, web services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2157984"/>
            <a:ext cx="5303520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22402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m8a.2xlarge (4 GiB/vCPU)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871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Plenty of headroom for AR caches, JSON, 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340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Within 6 % of C8A on $/perf, lower OOM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737360"/>
            <a:ext cx="5669280" cy="1417320"/>
          </a:xfrm>
          <a:prstGeom prst="roundRect">
            <a:avLst>
              <a:gd name="adj" fmla="val 4000"/>
            </a:avLst>
          </a:prstGeom>
          <a:solidFill>
            <a:srgbClr val="071F30"/>
          </a:solidFill>
          <a:ln w="12700">
            <a:solidFill>
              <a:srgbClr val="1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86537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C2DE"/>
                </a:solidFill>
                <a:latin typeface="Arial"/>
              </a:rPr>
              <a:t>Cost-optimized tier — light microservices, proxies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0" y="2157984"/>
            <a:ext cx="5303520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0" y="22402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c8a.2xlarge (2 GiB/vCPU)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871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+4.5 % price-perf vs M8A on this workload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340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Validate with production memory profile first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337560"/>
            <a:ext cx="5669280" cy="1417320"/>
          </a:xfrm>
          <a:prstGeom prst="roundRect">
            <a:avLst>
              <a:gd name="adj" fmla="val 4000"/>
            </a:avLst>
          </a:prstGeom>
          <a:solidFill>
            <a:srgbClr val="071F30"/>
          </a:solidFill>
          <a:ln w="12700">
            <a:solidFill>
              <a:srgbClr val="1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46557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C2DE"/>
                </a:solidFill>
                <a:latin typeface="Arial"/>
              </a:rPr>
              <a:t>Reference for sizing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3758184"/>
            <a:ext cx="5303520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38404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m8a.metal-24xl bare-metal sets the ceiling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0873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Cloud 2xl shapes lose ~30 % to Nitro tax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3342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Plan capacity at c=100, 60-65 % steady-state util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337560"/>
            <a:ext cx="5669280" cy="1417320"/>
          </a:xfrm>
          <a:prstGeom prst="roundRect">
            <a:avLst>
              <a:gd name="adj" fmla="val 4000"/>
            </a:avLst>
          </a:prstGeom>
          <a:solidFill>
            <a:srgbClr val="071F30"/>
          </a:solidFill>
          <a:ln w="12700">
            <a:solidFill>
              <a:srgbClr val="1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46557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C2DE"/>
                </a:solidFill>
                <a:latin typeface="Arial"/>
              </a:rPr>
              <a:t>Next experiments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0" y="3758184"/>
            <a:ext cx="5303520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00800" y="38404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Re-bench with real Rails app (AR + JSON workload)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0873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Quantify V-Cache benefit on AR-heavy traffic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3342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•  Validate memory ceiling on C8A under prod load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