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4A52E"/>
                </a:solidFill>
                <a:latin typeface="Arial"/>
              </a:rPr>
              <a:t>[Confidential - Distribution with NDA]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0C8D0"/>
                </a:solidFill>
                <a:latin typeface="Arial"/>
              </a:rPr>
              <a:t>1    |    GCP 4TH GEN  |  RELEASED UNDER 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rial"/>
              </a:rPr>
              <a:t>AMD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__c4d-standard-16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0C8D0"/>
                </a:solidFill>
                <a:latin typeface="Arial"/>
              </a:rPr>
              <a:t>16 vCPUs  /  8 cores  /  1 CCD on socket P0 (SMT on → 16 vCPUs from 8 cores)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6858000" cy="4389120"/>
          </a:xfrm>
          <a:prstGeom prst="roundRect">
            <a:avLst>
              <a:gd name="adj" fmla="val 18000"/>
            </a:avLst>
          </a:prstGeom>
          <a:solidFill>
            <a:srgbClr val="0A293F"/>
          </a:solidFill>
          <a:ln w="254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1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1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1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1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29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250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250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250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250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Z5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solidFill>
            <a:srgbClr val="FFD500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50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Arial"/>
              </a:rPr>
              <a:t>GMI
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052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3169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169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3169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3169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9266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247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8247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247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247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51476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60024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1662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91662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1662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91662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29238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4244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4244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4244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4244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11448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9996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51634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1634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51634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51634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9210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0241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0241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241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241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71420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79968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11606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11606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11606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11606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49182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6238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6238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6238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6238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31392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39940" y="1863547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71578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71578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071578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71578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9154" y="2017341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22360" y="194742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22360" y="218048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22360" y="241354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22360" y="2646608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091364" y="2969604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solidFill>
            <a:srgbClr val="364E60"/>
          </a:solidFill>
          <a:ln w="1270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4400" y="3175892"/>
            <a:ext cx="5760720" cy="9656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MEMORY / IO DIE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9150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4008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7171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7171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171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171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0929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32250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2250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2250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2250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851476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700052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83169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83169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3169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83169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169266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38247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8247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38247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38247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911448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760024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891662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891662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891662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91662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29238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44244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44244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4244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44244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971420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819996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951634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951634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51634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951634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89210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0241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0241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50241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0241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31392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879968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011606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011606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011606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011606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349182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56238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56238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56238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56238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solidFill>
            <a:srgbClr val="163346"/>
          </a:solidFill>
          <a:ln w="6350">
            <a:solidFill>
              <a:srgbClr val="15B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091364" y="4194167"/>
            <a:ext cx="706647" cy="1536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GMI
4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39940" y="4400455"/>
            <a:ext cx="1009497" cy="1053388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071578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071578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071578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071578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409154" y="4554249"/>
            <a:ext cx="142137" cy="74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FFFFFF"/>
                </a:solidFill>
                <a:latin typeface="Arial"/>
              </a:rPr>
              <a:t>L
3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622360" y="4484330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622360" y="4717392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622360" y="4950454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solidFill>
            <a:srgbClr val="3D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622360" y="5183516"/>
            <a:ext cx="266507" cy="186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Z5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20040" y="130759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P0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7589520" y="1325880"/>
            <a:ext cx="4327855" cy="4846320"/>
          </a:xfrm>
          <a:prstGeom prst="roundRect">
            <a:avLst>
              <a:gd name="adj" fmla="val 5000"/>
            </a:avLst>
          </a:prstGeom>
          <a:solidFill>
            <a:srgbClr val="071F30"/>
          </a:solidFill>
          <a:ln w="12700">
            <a:solidFill>
              <a:srgbClr val="1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761299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INSTANCE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7761299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7761299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Name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500419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c4d-standard-16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61299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CSP gen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500419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GCP 4th gen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761299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AMD gen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500419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Zen 5 / Turin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761299" y="235000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Sockets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500419" y="235000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 (P0)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761299" y="264261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CPU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7761299" y="286207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7761299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Processor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500419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AMD EPYC 9005 series (Turin)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761299" y="309981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Boost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500419" y="309981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4.4 GHz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761299" y="330098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vCPUs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500419" y="330098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761299" y="350215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SMT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8500419" y="350215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9744303" y="1490472"/>
            <a:ext cx="0" cy="4517136"/>
          </a:xfrm>
          <a:prstGeom prst="line">
            <a:avLst/>
          </a:prstGeom>
          <a:ln w="6350">
            <a:solidFill>
              <a:srgbClr val="1A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Box 285"/>
          <p:cNvSpPr txBox="1"/>
          <p:nvPr/>
        </p:nvSpPr>
        <p:spPr>
          <a:xfrm>
            <a:off x="9879506" y="1490472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MEMORY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9879506" y="1709928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9879506" y="174650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Total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618626" y="174650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62 GiB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9879506" y="194767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 vCPU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618626" y="194767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3.875 GiB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879506" y="214884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Type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618626" y="214884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DDR5-6400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879506" y="2441448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NETWORK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9879506" y="2660904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9879506" y="2697480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Perf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618626" y="2697480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100 Gbps Tier_1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879506" y="289864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ENIs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0618626" y="289864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GVNIC / IDPF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9879506" y="3191256"/>
            <a:ext cx="184780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C2DE"/>
                </a:solidFill>
                <a:latin typeface="Arial"/>
              </a:rPr>
              <a:t>STORAGE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9879506" y="3410712"/>
            <a:ext cx="1847801" cy="0"/>
          </a:xfrm>
          <a:prstGeom prst="line">
            <a:avLst/>
          </a:prstGeom>
          <a:ln w="6350">
            <a:solidFill>
              <a:srgbClr val="00C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9879506" y="3447288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Local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618626" y="3447288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Hyperdisk only (no local SSD)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879506" y="3648456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BW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618626" y="3648456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12 Gbps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9879506" y="3849624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Tput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0618626" y="3849624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1,500 MB/s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879506" y="4050792"/>
            <a:ext cx="73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8090A0"/>
                </a:solidFill>
                <a:latin typeface="Arial"/>
              </a:rPr>
              <a:t>EBS IOPS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618626" y="4050792"/>
            <a:ext cx="110868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up to 60,000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